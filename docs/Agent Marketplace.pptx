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9.jpeg" ContentType="image/jpe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3.png" ContentType="image/png"/>
  <Override PartName="/ppt/media/image10.png" ContentType="image/png"/>
  <Override PartName="/ppt/media/image2.png" ContentType="image/png"/>
  <Override PartName="/ppt/media/image7.jpeg" ContentType="image/jpeg"/>
  <Override PartName="/ppt/media/image11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/>
          <a:srcRect l="3724" t="0" r="0" b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11920" y="490680"/>
            <a:ext cx="5024520" cy="175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585760" y="691200"/>
            <a:ext cx="3469320" cy="445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7;p14" descr=""/>
          <p:cNvPicPr/>
          <p:nvPr/>
        </p:nvPicPr>
        <p:blipFill>
          <a:blip r:embed="rId2"/>
          <a:srcRect l="616" t="0" r="0" b="0"/>
          <a:stretch/>
        </p:blipFill>
        <p:spPr>
          <a:xfrm>
            <a:off x="0" y="0"/>
            <a:ext cx="90871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77600" y="485640"/>
            <a:ext cx="7175520" cy="13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1;p15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29692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3157560" y="304920"/>
            <a:ext cx="5918400" cy="14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505680" y="1961280"/>
            <a:ext cx="5349960" cy="283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15;p21" descr=""/>
          <p:cNvPicPr/>
          <p:nvPr/>
        </p:nvPicPr>
        <p:blipFill>
          <a:blip r:embed="rId2"/>
          <a:srcRect l="-8567" t="0" r="12300" b="0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18;p21"/>
          <p:cNvSpPr/>
          <p:nvPr/>
        </p:nvSpPr>
        <p:spPr>
          <a:xfrm>
            <a:off x="5766840" y="3377160"/>
            <a:ext cx="297684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34;p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339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36;p28" descr=""/>
          <p:cNvPicPr/>
          <p:nvPr/>
        </p:nvPicPr>
        <p:blipFill>
          <a:blip r:embed="rId1"/>
          <a:stretch/>
        </p:blipFill>
        <p:spPr>
          <a:xfrm>
            <a:off x="5585760" y="691200"/>
            <a:ext cx="3469320" cy="445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14440" y="495360"/>
            <a:ext cx="5028840" cy="17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Agent Marketplace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14440" y="4095720"/>
            <a:ext cx="2409480" cy="5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Autonomous AI agents trading with nanopayments on-chain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67;p31" descr=""/>
          <p:cNvPicPr/>
          <p:nvPr/>
        </p:nvPicPr>
        <p:blipFill>
          <a:blip r:embed="rId1"/>
          <a:stretch/>
        </p:blipFill>
        <p:spPr>
          <a:xfrm>
            <a:off x="0" y="0"/>
            <a:ext cx="2969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52880" y="304920"/>
            <a:ext cx="591480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505320" y="1962000"/>
            <a:ext cx="5352840" cy="283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Agent Marketplace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showcases autonomous AI agents buying and selling data using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nanopayments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on the Arc network.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Watch negotiation, settlement, and verification in real time — a proof that agentic commerce is feasible when fees vanish.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Goldman"/>
              </a:rPr>
              <a:t>Problem &amp; Need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6" name="image69ed37ce4d854" descr="image69ed37ce4d85a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67;p31" descr=""/>
          <p:cNvPicPr/>
          <p:nvPr/>
        </p:nvPicPr>
        <p:blipFill>
          <a:blip r:embed="rId1"/>
          <a:stretch/>
        </p:blipFill>
        <p:spPr>
          <a:xfrm>
            <a:off x="0" y="0"/>
            <a:ext cx="2969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52880" y="304920"/>
            <a:ext cx="591480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High gas costs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505320" y="1962000"/>
            <a:ext cx="5352840" cy="283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On Ethereum a $0.01 transfer can cost ~$2.50 in gas, making tiny payments economically impossible.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This cost imbalance prevents autonomous agents from executing large volumes of microtransactions efficiently.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676520" y="485640"/>
            <a:ext cx="7171920" cy="13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Micropayment barrier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2886120" y="1905120"/>
            <a:ext cx="5886000" cy="27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When fees exceed the payment, agent-to-agent commerce stalls and new business models can't scale.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Nanopayments on Arc cut transaction costs dramatically, enabling autonomous markets and new revenue streams.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Goldman"/>
              </a:rPr>
              <a:t>Agent commerce gap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Agent Marketplace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 demonstrates a missing market: autonomous agents can't trade value because fees dwarf payments.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Nanopayments remove this barrier, unlocking high-frequency, low-value exchanges and new agent-driven business models.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Goldman"/>
              </a:rPr>
              <a:t>Demo &amp; Impact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6" name="image69ed37ce5d61e" descr="image69ed37ce5d622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Goldman"/>
              </a:rPr>
              <a:t>Negotiation demo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Watch two AI agents autonomously negotiate price for 100 data points: buyer $0.001, seller $0.0012, settled at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$0.0011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 after three rounds.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This shows real-time decision-making and fair automated bargaining at microprice scales.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9" name="image69ed37ce68301" descr="image69ed37ce68305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76520" y="485640"/>
            <a:ext cx="7171920" cy="13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Nanopayments flow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2886120" y="1905120"/>
            <a:ext cx="5886000" cy="27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One hundred on-chain payments execute on Arc in seven seconds — each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$0.0011 USDC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— proving throughput and reliability.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See transactions stream in real time, validating scalable settlement for agent commerce.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Goldman"/>
              </a:rPr>
              <a:t>Cost &amp; results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100 successful payments on Arc cost about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$0.01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 total versus ~$250 gas on Ethereum — a 99.99% reduction.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This cost delta makes previously impossible microtransactions economically viable.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76520" y="485640"/>
            <a:ext cx="7171920" cy="13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Conclusions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2886120" y="1905120"/>
            <a:ext cx="5886000" cy="27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Nanopayments transform agent interactions: low fees + real-time settlement = new markets.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Agent Marketplace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proves the concept; when gas disappears, autonomous commerce and novel services become possible.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61960" y="504360"/>
            <a:ext cx="50860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THANK YOU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61960" y="1562040"/>
            <a:ext cx="4447800" cy="122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Do you have any questions?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youremail@freepik.com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+00 000 000 000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yourwebsite.com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8" name="Google Shape;303;p41"/>
          <p:cNvGrpSpPr/>
          <p:nvPr/>
        </p:nvGrpSpPr>
        <p:grpSpPr>
          <a:xfrm>
            <a:off x="7415280" y="4388040"/>
            <a:ext cx="275760" cy="275760"/>
            <a:chOff x="7415280" y="4388040"/>
            <a:chExt cx="275760" cy="275760"/>
          </a:xfrm>
        </p:grpSpPr>
        <p:sp>
          <p:nvSpPr>
            <p:cNvPr id="49" name="Google Shape;304;p41"/>
            <p:cNvSpPr/>
            <p:nvPr/>
          </p:nvSpPr>
          <p:spPr>
            <a:xfrm>
              <a:off x="7415280" y="438804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305;p41"/>
            <p:cNvSpPr/>
            <p:nvPr/>
          </p:nvSpPr>
          <p:spPr>
            <a:xfrm>
              <a:off x="7479360" y="445356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306;p41"/>
            <p:cNvSpPr/>
            <p:nvPr/>
          </p:nvSpPr>
          <p:spPr>
            <a:xfrm>
              <a:off x="7608960" y="442332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307;p41"/>
          <p:cNvGrpSpPr/>
          <p:nvPr/>
        </p:nvGrpSpPr>
        <p:grpSpPr>
          <a:xfrm>
            <a:off x="7901640" y="4406760"/>
            <a:ext cx="266400" cy="237960"/>
            <a:chOff x="7901640" y="4406760"/>
            <a:chExt cx="266400" cy="237960"/>
          </a:xfrm>
        </p:grpSpPr>
        <p:sp>
          <p:nvSpPr>
            <p:cNvPr id="53" name="Google Shape;308;p41"/>
            <p:cNvSpPr/>
            <p:nvPr/>
          </p:nvSpPr>
          <p:spPr>
            <a:xfrm>
              <a:off x="7911000" y="449064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309;p41"/>
            <p:cNvSpPr/>
            <p:nvPr/>
          </p:nvSpPr>
          <p:spPr>
            <a:xfrm>
              <a:off x="7901640" y="440676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310;p41"/>
            <p:cNvSpPr/>
            <p:nvPr/>
          </p:nvSpPr>
          <p:spPr>
            <a:xfrm>
              <a:off x="8004240" y="449064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6" name="Google Shape;311;p41"/>
          <p:cNvSpPr/>
          <p:nvPr/>
        </p:nvSpPr>
        <p:spPr>
          <a:xfrm>
            <a:off x="5581800" y="4000680"/>
            <a:ext cx="30859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312;p41"/>
          <p:cNvSpPr/>
          <p:nvPr/>
        </p:nvSpPr>
        <p:spPr>
          <a:xfrm>
            <a:off x="8379000" y="438876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2026-04-25T21:53:17Z</dcterms:created>
  <dc:creator>Unknown Creator</dc:creator>
  <dc:description/>
  <dc:language>en-US</dc:language>
  <cp:lastModifiedBy>Unknown Creator</cp:lastModifiedBy>
  <dcterms:modified xsi:type="dcterms:W3CDTF">2026-04-25T21:53:17Z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